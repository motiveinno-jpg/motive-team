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0000"/>
                </a:solidFill>
              </a:rPr>
              <a:t>Whistle AI 서비스 결제경로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66666"/>
                </a:solidFill>
              </a:rPr>
              <a:t>토스페이먼츠 카드사 심사용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3200400"/>
            <a:ext cx="6705295" cy="3200400"/>
          </a:xfrm>
          <a:prstGeom prst="roundRect">
            <a:avLst/>
          </a:prstGeom>
          <a:solidFill>
            <a:srgbClr val="F8FAFF"/>
          </a:solidFill>
          <a:ln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3383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</a:rPr>
              <a:t>(1) 상호명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3383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:  (주)모티브이노베이션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3840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</a:rPr>
              <a:t>(2) 사업자번호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3840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:  155-88-02209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</a:rPr>
              <a:t>(3) 서비스 URL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4297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:  https://motiveinno-jpg.github.io/motive-team/whistle-landing.html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754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</a:rPr>
              <a:t>(4) 앱 URL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4754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:  https://www.owner-view.com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212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</a:rPr>
              <a:t>(5) Test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5212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:  test@motiveinnovation.co.kr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669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</a:rPr>
              <a:t>(6) Test PW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5669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:  Test1234!@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0" y="182880"/>
            <a:ext cx="5790895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② 하단 정보 캡처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66666"/>
                </a:solidFill>
              </a:rPr>
              <a:t>필수 구성 항목: (1)상호명 / (2)대표자명 / (3)사업자등록번호 / (4)통신판매업신고번호 / (5)사업장주소 / (6)상점 전화번호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463040"/>
            <a:ext cx="9448495" cy="320040"/>
          </a:xfrm>
          <a:prstGeom prst="roundRect">
            <a:avLst/>
          </a:prstGeom>
          <a:solidFill>
            <a:srgbClr val="F1F3F5"/>
          </a:solidFill>
          <a:ln w="635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000"/>
              <a:t>  🔒 </a:t>
            </a:r>
            <a:r>
              <a:rPr sz="1000">
                <a:solidFill>
                  <a:srgbClr val="333333"/>
                </a:solidFill>
              </a:rPr>
              <a:t>motiveinno-jpg.github.io/motive-team/whistle-landing.html</a:t>
            </a:r>
          </a:p>
        </p:txBody>
      </p:sp>
      <p:pic>
        <p:nvPicPr>
          <p:cNvPr id="5" name="Picture 4" descr="02-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83080"/>
            <a:ext cx="9448495" cy="59053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0" y="182880"/>
            <a:ext cx="5790895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③ 환불규정 캡처 (무형상품)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66666"/>
                </a:solidFill>
              </a:rPr>
              <a:t>환불 규정을 캡처해요. 전자상거래법에 따른 청약철회 및 환불 정책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463040"/>
            <a:ext cx="9448495" cy="320040"/>
          </a:xfrm>
          <a:prstGeom prst="roundRect">
            <a:avLst/>
          </a:prstGeom>
          <a:solidFill>
            <a:srgbClr val="F1F3F5"/>
          </a:solidFill>
          <a:ln w="635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000"/>
              <a:t>  🔒 </a:t>
            </a:r>
            <a:r>
              <a:rPr sz="1000">
                <a:solidFill>
                  <a:srgbClr val="333333"/>
                </a:solidFill>
              </a:rPr>
              <a:t>motiveinno-jpg.github.io/motive-team/refund.html</a:t>
            </a:r>
          </a:p>
        </p:txBody>
      </p:sp>
      <p:pic>
        <p:nvPicPr>
          <p:cNvPr id="5" name="Picture 4" descr="03-ref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83080"/>
            <a:ext cx="9448495" cy="59053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0" y="182880"/>
            <a:ext cx="5790895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④ 로그인 / 회원가입 캡처 (웹 — Whistle 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66666"/>
                </a:solidFill>
              </a:rPr>
              <a:t>로그인 혹은 회원가입 경로를 캡처해요.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029200" cy="320040"/>
          </a:xfrm>
          <a:prstGeom prst="roundRect">
            <a:avLst/>
          </a:prstGeom>
          <a:solidFill>
            <a:srgbClr val="F1F3F5"/>
          </a:solidFill>
          <a:ln w="635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000"/>
              <a:t>  🔒 </a:t>
            </a:r>
            <a:r>
              <a:rPr sz="1000">
                <a:solidFill>
                  <a:srgbClr val="333333"/>
                </a:solidFill>
              </a:rPr>
              <a:t>motiveinno-jpg.github.io/motive-team/whistle-landing.html</a:t>
            </a:r>
          </a:p>
        </p:txBody>
      </p:sp>
      <p:pic>
        <p:nvPicPr>
          <p:cNvPr id="5" name="Picture 4" descr="04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5029200" cy="314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188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</a:rPr>
              <a:t>▶ 로그인 모달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188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</a:rPr>
              <a:t>▶ 회원가입 (하단 '회원가입' 클릭)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6459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</a:rPr>
              <a:t>• 이메일 + 비밀번호 기반 가입
• 비밀번호 찾기 지원
• 회원가입 후 바로 서비스 이용 가능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0" y="182880"/>
            <a:ext cx="5790895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④ 로그인 / 회원가입 캡처 (모바일 앱 — OwnerView)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66666"/>
                </a:solidFill>
              </a:rPr>
              <a:t>모바일 앱 버전 로그인/회원가입 경로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</a:rPr>
              <a:t>▶ 로그인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3657600" cy="320040"/>
          </a:xfrm>
          <a:prstGeom prst="roundRect">
            <a:avLst/>
          </a:prstGeom>
          <a:solidFill>
            <a:srgbClr val="F1F3F5"/>
          </a:solidFill>
          <a:ln w="635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000"/>
              <a:t>  🔒 </a:t>
            </a:r>
            <a:r>
              <a:rPr sz="1000">
                <a:solidFill>
                  <a:srgbClr val="333333"/>
                </a:solidFill>
              </a:rPr>
              <a:t>www.owner-view.com/auth</a:t>
            </a:r>
          </a:p>
        </p:txBody>
      </p:sp>
      <p:pic>
        <p:nvPicPr>
          <p:cNvPr id="6" name="Picture 5" descr="10-mobile-au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83080"/>
            <a:ext cx="2112654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</a:rPr>
              <a:t>▶ 회원가입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4572000" cy="320040"/>
          </a:xfrm>
          <a:prstGeom prst="roundRect">
            <a:avLst/>
          </a:prstGeom>
          <a:solidFill>
            <a:srgbClr val="F1F3F5"/>
          </a:solidFill>
          <a:ln w="635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000"/>
              <a:t>  🔒 </a:t>
            </a:r>
            <a:r>
              <a:rPr sz="1000">
                <a:solidFill>
                  <a:srgbClr val="333333"/>
                </a:solidFill>
              </a:rPr>
              <a:t>www.owner-view.com/auth (회원가입 탭)</a:t>
            </a:r>
          </a:p>
        </p:txBody>
      </p:sp>
      <p:pic>
        <p:nvPicPr>
          <p:cNvPr id="9" name="Picture 8" descr="11-mobile-sign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783080"/>
            <a:ext cx="2112654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0" y="182880"/>
            <a:ext cx="5790895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⑤ 상품 선택 / 구매과정 캡처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66666"/>
                </a:solidFill>
              </a:rPr>
              <a:t>유/무형 상품의 구매 경로를 모두 캡처해주세요.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40AF"/>
                </a:solidFill>
              </a:rPr>
              <a:t>▶ STEP 1. 요금제 페이지에서 상품 확인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08760"/>
            <a:ext cx="11277295" cy="320040"/>
          </a:xfrm>
          <a:prstGeom prst="roundRect">
            <a:avLst/>
          </a:prstGeom>
          <a:solidFill>
            <a:srgbClr val="F1F3F5"/>
          </a:solidFill>
          <a:ln w="635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000"/>
              <a:t>  🔒 </a:t>
            </a:r>
            <a:r>
              <a:rPr sz="1000">
                <a:solidFill>
                  <a:srgbClr val="333333"/>
                </a:solidFill>
              </a:rPr>
              <a:t>motiveinno-jpg.github.io/motive-team/whistle-landing.html#pricing</a:t>
            </a:r>
          </a:p>
        </p:txBody>
      </p:sp>
      <p:pic>
        <p:nvPicPr>
          <p:cNvPr id="6" name="Picture 5" descr="06-pr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11277295" cy="63434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0" y="182880"/>
            <a:ext cx="5790895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⑤ 상품 선택 / 구매과정 캡처 (계속)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66666"/>
                </a:solidFill>
              </a:rPr>
              <a:t>구독 결제 버튼 + AI 수출 상품분석 보고서 단건결제(₩50,000)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40AF"/>
                </a:solidFill>
              </a:rPr>
              <a:t>▶ STEP 2. 구독 CTA 버튼 + 단건결제 상품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08760"/>
            <a:ext cx="11277295" cy="320040"/>
          </a:xfrm>
          <a:prstGeom prst="roundRect">
            <a:avLst/>
          </a:prstGeom>
          <a:solidFill>
            <a:srgbClr val="F1F3F5"/>
          </a:solidFill>
          <a:ln w="635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000"/>
              <a:t>  🔒 </a:t>
            </a:r>
            <a:r>
              <a:rPr sz="1000">
                <a:solidFill>
                  <a:srgbClr val="333333"/>
                </a:solidFill>
              </a:rPr>
              <a:t>motiveinno-jpg.github.io/motive-team/whistle-landing.html#pricing (스크롤)</a:t>
            </a:r>
          </a:p>
        </p:txBody>
      </p:sp>
      <p:pic>
        <p:nvPicPr>
          <p:cNvPr id="6" name="Picture 5" descr="07-pricing-butt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11277295" cy="63434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0" y="5303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</a:rPr>
              <a:t>← Starter 구독하기 (정기결제 ₩99,000/월)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5669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</a:rPr>
              <a:t>← AI 수출 상품분석 보고서 (단건결제 ₩50,000/건)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0" y="182880"/>
            <a:ext cx="5790895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⑤ 상품 선택 / 구매과정 캡처 (결제 확인)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66666"/>
                </a:solidFill>
              </a:rPr>
              <a:t>결제 확인 모달 — 구독 결제(좌) / 단건결제(우)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</a:rPr>
              <a:t>▶ STEP 3-A. Starter 구독 결제 (₩99,000)</a:t>
            </a:r>
          </a:p>
        </p:txBody>
      </p:sp>
      <p:pic>
        <p:nvPicPr>
          <p:cNvPr id="5" name="Picture 4" descr="08-checkout-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54480"/>
            <a:ext cx="5669280" cy="31889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188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</a:rPr>
              <a:t>▶ STEP 3-B. AI 보고서 단건결제 (₩50,000)</a:t>
            </a:r>
          </a:p>
        </p:txBody>
      </p:sp>
      <p:pic>
        <p:nvPicPr>
          <p:cNvPr id="7" name="Picture 6" descr="09-single-pay-mod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5669280" cy="31889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0" y="182880"/>
            <a:ext cx="5790895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⑥ 카드 결제경로 캡처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66666"/>
                </a:solidFill>
              </a:rPr>
              <a:t>토스페이먼츠 SDK v2 표준 결제창을 통해 카드 결제가 진행됩니다.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645920"/>
            <a:ext cx="8534095" cy="4114800"/>
          </a:xfrm>
          <a:prstGeom prst="roundRect">
            <a:avLst/>
          </a:prstGeom>
          <a:solidFill>
            <a:srgbClr val="F0F4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011680"/>
            <a:ext cx="7619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</a:rPr>
              <a:t>토스페이먼츠 표준 결제창 (SDK v2)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743200"/>
            <a:ext cx="6705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결제 흐름:
1. 사용자가 "결제하기" 버튼 클릭
2. TossPayments SDK 로드 → requestPayment() 호출
3. 토스페이먼츠 표준 결제 팝업 표시
   • 결제 방법: 신용카드 / 체크카드
   • 카드사 선택 → 카드번호 입력 → 결제 인증
4. 결제 성공 시 → successUrl로 리다이렉트
5. 결제 실패 시 → failUrl로 리다이렉트
※ 테스트용 결제창 연동 가이드: https://docs.tosspayments.com/preview/1
※ 가맹점 승인 후 실 결제 테스트 및 캡처 가능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5303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40AF"/>
                </a:solidFill>
              </a:rPr>
              <a:t>연동 코드 (SDK v2):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55778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const toss = TossPayments("클라이언트키");
toss.payment({customerKey}).requestPayment({method:"CARD", amount:{value:99000, currency:"KRW"}, ...})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